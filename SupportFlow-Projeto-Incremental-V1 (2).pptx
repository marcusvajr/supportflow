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64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SupportFlow • Projeto Incremental V1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PUC Minas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hyperlink" Target="https://github.com/Marcusvajr/supportflow" TargetMode="External"/><Relationship Id="rId3" Type="http://schemas.openxmlformats.org/officeDocument/2006/relationships/image" Target="../media/image-8-2.png"/><Relationship Id="rId4" Type="http://schemas.openxmlformats.org/officeDocument/2006/relationships/hyperlink" Target="https://stitch.withgoogle.com/projects/5301597292888761257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11C34"/>
          </a:solidFill>
          <a:ln w="12700">
            <a:solidFill>
              <a:srgbClr val="111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955280" y="-640080"/>
            <a:ext cx="4389120" cy="4389120"/>
          </a:xfrm>
          <a:prstGeom prst="arc">
            <a:avLst/>
          </a:prstGeom>
          <a:solidFill>
            <a:srgbClr val="2563EB">
              <a:alpha val="8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686800" y="3474720"/>
            <a:ext cx="3474720" cy="3474720"/>
          </a:xfrm>
          <a:prstGeom prst="arc">
            <a:avLst/>
          </a:prstGeom>
          <a:solidFill>
            <a:srgbClr val="06B6D4">
              <a:alpha val="6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949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PROJETO INCREMENTAL • V1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SupportFlow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Discovery de uma plataforma para continuidade de chamados técnicos em provedores de internet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Práticas de Implementação e Evolução de Software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Marcus Vinícius de Abreu Júnior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Professor: Junilson Pereira Souza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870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PUC Minas • 2026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115568"/>
            <a:ext cx="4709160" cy="45262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115568"/>
            <a:ext cx="960120" cy="4526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Dashboard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510528" y="24688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14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</a:rPr>
              <a:t>Chamados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Clientes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83680" y="35204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Configurações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63524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#TKT-8924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18320" y="1463040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EM ANÁLISE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87000" y="1463040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0" y="14721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ALTA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2011680"/>
            <a:ext cx="16459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201168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4696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Cliente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854696" y="2578608"/>
            <a:ext cx="12070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TechSolutions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Contato e plano em um só lugar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18320" y="2011680"/>
            <a:ext cx="1463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6000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18320" y="2011680"/>
            <a:ext cx="54864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7776" y="2176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Diagnóstico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637776" y="2578608"/>
            <a:ext cx="102412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Hipótese atual e próximos testes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35240" y="347472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600000000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35240" y="347472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54696" y="36393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Linha do tempo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854696" y="4041648"/>
            <a:ext cx="280720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Histórico de testes, mudanças de status, responsável e resolução.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 e oportunidade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 ponto de partida do Discovery foi uma dor operacional observável no suporte técnico.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6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456" y="1581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Público-alvo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299008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Profissionais de Help Desk, suporte técnico e equipes de campo de provedores regionais de internet.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6e+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81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11496" y="1581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Problema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1984248"/>
            <a:ext cx="299008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Informações do atendimento podem ficar fragmentadas entre registros, ferramentas e pessoas, dificultando a continuidade do chamado.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6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417320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81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0536" y="1581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Objetivo da solução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57616" y="1984248"/>
            <a:ext cx="299008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Centralizar contexto, testes, diagnóstico, prioridade, responsável e histórico em uma única aplicação web.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109270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Hipótese central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40740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Uma linha do tempo técnica estruturada pode reduzir retrabalho e perda de contexto quando um chamado muda de responsável ou retorna para análise.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5010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pesquisa documental reforçou a relevância de atendimento e qualidade no setor; a hipótese específica de fragmentação interna ainda deve ser validada com usuários.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Discovery: do problema ao protótipo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Os artefatos foram construídos em sequência para manter rastreabilidade entre problema, produto, regras, arquitetura e interface.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874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6e+3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2240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problem.md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" y="2651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Problema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2432304"/>
            <a:ext cx="32004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2011680"/>
            <a:ext cx="1874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6e+3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2240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prd.md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8376" y="2651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Produto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28032" y="2432304"/>
            <a:ext cx="32004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2011680"/>
            <a:ext cx="1874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6e+4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4376" y="2240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spec.md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94376" y="2651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Regras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4032" y="2432304"/>
            <a:ext cx="32004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2011680"/>
            <a:ext cx="1874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6e+4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0376" y="2240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architecture.md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0376" y="2651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Arquitetura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00032" y="2432304"/>
            <a:ext cx="32004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2011680"/>
            <a:ext cx="1874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6e+5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66376" y="2240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design.md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66376" y="2651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3977640"/>
            <a:ext cx="10195560" cy="1234440"/>
          </a:xfrm>
          <a:prstGeom prst="roundRect">
            <a:avLst>
              <a:gd name="adj" fmla="val 103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224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Revisão de refinamento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4169664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PRD, especificação e arquitetura foram revisados em conjunto para reduzir inconsistências e evitar que decisões técnicas contradissessem o escopo do MVP.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0160" y="473659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Resultado: uma base documental pronta para orientar a próxima etapa de Delivery.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SupportFlow: solução e escopo do MVP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proposta foi deliberadamente reduzida para um núcleo demonstrável e evolutivo.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461772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6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Fluxo principal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854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0704" y="2441448"/>
            <a:ext cx="0" cy="35661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1305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88920" y="21305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Acesso ao ambiente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254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60704" y="3081528"/>
            <a:ext cx="0" cy="35661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706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27706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Visão geral da operação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4290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655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60704" y="3721608"/>
            <a:ext cx="0" cy="35661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410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Chamados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34107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Busca e priorização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0690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056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60704" y="4361688"/>
            <a:ext cx="0" cy="35661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050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Detalhes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40507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Contexto e linha do tempo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70916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457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6908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Ação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88920" y="46908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Teste, diagnóstico ou resolução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1572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MVP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623560" y="2057400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88152" y="21854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Login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88152" y="2441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Acesso demonstrativo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03920" y="2057400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21854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Dashboard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68512" y="2441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Indicadores e chamados recentes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23560" y="3136392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32644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Clientes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88152" y="35204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Busca e histórico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03920" y="3136392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2644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Chamados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668512" y="35204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Criação, filtros e detalhes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23560" y="4215384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88152" y="4343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Diagnóstico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788152" y="4599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Registro estruturado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503920" y="4215384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5999999999999998e+64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68512" y="4343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Linha do tempo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668512" y="4599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Continuidade do atendimento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23560" y="544068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56144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Fora do MVP: integrações com OLT/ONT, WhatsApp, ERP, automações e diagnóstico por IA.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Arquitetura planejada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arquitetura foi definida como referência para a implementação, não como requisito já concluído nesta etapa.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5999999999999997e+6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02996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Usuário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40487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Help Desk / Supervisor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2157984"/>
            <a:ext cx="411480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17780">
            <a:solidFill>
              <a:srgbClr val="2563EB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5999999999999997e+7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20299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Next.js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35808" y="240487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Frontend • React • TypeScript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157984"/>
            <a:ext cx="411480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8288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5999999999999997e+7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41848" y="20299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NestJS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41848" y="240487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API • regras de negócio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26680" y="2157984"/>
            <a:ext cx="411480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8288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CFDF5"/>
          </a:solidFill>
          <a:ln w="17780">
            <a:solidFill>
              <a:srgbClr val="16A34A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5999999999999996e+8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3608" y="20299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Supabase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240487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PostgreSQL gerenciado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3657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5999999999999997e+8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365760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Clerk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25296" y="4224528"/>
            <a:ext cx="2029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Autenticação e sessão.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Papéis previstos: AGENT e SUPERVISOR.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94760" y="3657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5999999999999997e+9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94760" y="3657600"/>
            <a:ext cx="54864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Sentry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014216" y="4224528"/>
            <a:ext cx="2029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Captura de erros e contexto operacional sem dados sensíveis.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3657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5999999999999998e+9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365760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GitHub Actions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803136" y="4224528"/>
            <a:ext cx="2029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Pipeline de validação e integração contínua.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72600" y="365760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5999999999999997e+10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372600" y="3657600"/>
            <a:ext cx="54864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92056" y="3822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Vercel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592056" y="4224528"/>
            <a:ext cx="152704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Deploy planejado para o frontend.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" y="5440680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Decisão-chave: manter o MVP como monólito modular + frontend desacoplado, evitando microserviços e integrações prematuras.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Design System e prototipação no Stitch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 desenho foi validado por exploração de Preview, Variations, Protótipo e Interact.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5999999999999996e+109"/>
              </a:srgbClr>
            </a:outerShdw>
          </a:effectLst>
        </p:spPr>
      </p:sp>
      <p:pic>
        <p:nvPicPr>
          <p:cNvPr id="5" name="Image 0" descr="/mnt/data/32bc5484-d07f-4229-9a2a-443c4b4d3fb6.png">    </p:cNvPr>
          <p:cNvPicPr>
            <a:picLocks noChangeAspect="1"/>
          </p:cNvPicPr>
          <p:nvPr/>
        </p:nvPicPr>
        <p:blipFill>
          <a:blip r:embed="rId1"/>
          <a:srcRect l="492" r="492" t="0" b="0"/>
          <a:stretch/>
        </p:blipFill>
        <p:spPr>
          <a:xfrm>
            <a:off x="749808" y="1536192"/>
            <a:ext cx="5120640" cy="2907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590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Design 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9103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Cores, tipografia, componentes e princípios de UX gerados a partir de design.md.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353312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5999999999999998e+114"/>
              </a:srgbClr>
            </a:outerShdw>
          </a:effectLst>
        </p:spPr>
      </p:sp>
      <p:pic>
        <p:nvPicPr>
          <p:cNvPr id="9" name="Image 1" descr="/mnt/data/7536a14c-aea8-44ab-ad82-89140d90b33f.png">    </p:cNvPr>
          <p:cNvPicPr>
            <a:picLocks noChangeAspect="1"/>
          </p:cNvPicPr>
          <p:nvPr/>
        </p:nvPicPr>
        <p:blipFill>
          <a:blip r:embed="rId2"/>
          <a:srcRect l="1199" r="1199" t="0" b="0"/>
          <a:stretch/>
        </p:blipFill>
        <p:spPr>
          <a:xfrm>
            <a:off x="6419088" y="1536192"/>
            <a:ext cx="5047488" cy="2907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0528" y="4590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Protótipos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10528" y="491032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7 telas principais: Login, Dashboard, Chamados, Novo Chamado, Detalhes, Clientes e Detalhes do Cliente.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828800" y="5870448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0" y="5879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PREVIEW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0" y="5870448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0" y="5879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VARIATIONS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0" y="5870448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5879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PROTÓTIPO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366760" y="5870448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66760" y="58795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INTERACT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Principais achados do processo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 maior valor do Discovery foi tornar explícitas as decisões antes de começar a implementação.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5999999999999998e+11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819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1. O escopo precisou ser reduzido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1984248"/>
            <a:ext cx="49103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Integrações com rede, mensageria e IA foram deixadas para versões futuras. Isso manteve o MVP coerente com o prazo e com o objetivo acadêmico.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5999999999999997e+12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41732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819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2. A linha do tempo virou o núcleo do produto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19088" y="1984248"/>
            <a:ext cx="49103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Durante o refinamento, ficou claro que o diferencial não é apenas “abrir chamados”, mas preservar o contexto técnico para continuidade do atendimento.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5999999999999998e+12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54864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3192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3. Pesquisa pública ≠ validação total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9536" y="3721608"/>
            <a:ext cx="49103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Dados do setor reforçam a relevância de atendimento e qualidade, mas não comprovam sozinhos a fragmentação interna. Essa hipótese ainda exige entrevistas.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1546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5999999999999998e+13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154680"/>
            <a:ext cx="54864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3192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4. Variações ajudaram a escolher a hierarquia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19088" y="3721608"/>
            <a:ext cx="49103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Stitch, a opção “Operacional Density” mostrou melhor equilíbrio entre histórico, diagnóstico, testes e ações sem esconder contexto em abas.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5074920"/>
            <a:ext cx="9418320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53035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Aprendizado principal: documentar antes de implementar reduziu ambiguidade e deixou o próximo ciclo mais previsível.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Estado atual e próximos passos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etapa de Discovery está consolidada no repositório e no protótipo compartilhável.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5778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5999999999999998e+139"/>
              </a:srgbClr>
            </a:outerShdw>
          </a:effectLst>
        </p:spPr>
      </p:sp>
      <p:pic>
        <p:nvPicPr>
          <p:cNvPr id="5" name="Image 0" descr="/mnt/data/feeb0671-7b3b-4fca-a0bb-3d20f97efddb.png">    </p:cNvPr>
          <p:cNvPicPr>
            <a:picLocks noChangeAspect="1"/>
          </p:cNvPicPr>
          <p:nvPr/>
        </p:nvPicPr>
        <p:blipFill>
          <a:blip r:embed="rId1"/>
          <a:srcRect l="0" r="0" t="537" b="537"/>
          <a:stretch/>
        </p:blipFill>
        <p:spPr>
          <a:xfrm>
            <a:off x="749808" y="1572768"/>
            <a:ext cx="52578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645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Repositório</a:t>
            </a:r>
            <a:endParaRPr lang="en-US" sz="1400" dirty="0"/>
          </a:p>
        </p:txBody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868680" y="49651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github.com/Marcusvajr/supportflow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5257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Artefatos: problem.md • prd.md • spec.md • architecture.md • design.md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446520" y="13716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5999999999999997e+144"/>
              </a:srgbClr>
            </a:outerShdw>
          </a:effectLst>
        </p:spPr>
      </p:sp>
      <p:pic>
        <p:nvPicPr>
          <p:cNvPr id="10" name="Image 1" descr="/mnt/data/b3d063ae-3d60-4400-9d6e-3f78c6eba9d5.png">    </p:cNvPr>
          <p:cNvPicPr>
            <a:picLocks noChangeAspect="1"/>
          </p:cNvPicPr>
          <p:nvPr/>
        </p:nvPicPr>
        <p:blipFill>
          <a:blip r:embed="rId3"/>
          <a:srcRect l="0" r="0" t="1343" b="1343"/>
          <a:stretch/>
        </p:blipFill>
        <p:spPr>
          <a:xfrm>
            <a:off x="6601968" y="1572768"/>
            <a:ext cx="4846320" cy="2651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Protótipo compartilhado</a:t>
            </a:r>
            <a:endParaRPr lang="en-US" sz="1400" dirty="0"/>
          </a:p>
        </p:txBody>
      </p:sp>
      <p:sp>
        <p:nvSpPr>
          <p:cNvPr id="12" name="Text 8">
            <a:hlinkClick r:id="rId4" tooltip=""/>
          </p:cNvPr>
          <p:cNvSpPr/>
          <p:nvPr/>
        </p:nvSpPr>
        <p:spPr>
          <a:xfrm>
            <a:off x="672084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563EB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stitch.withgoogle.com/projects/5301597292888761257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720840" y="5193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Próximo ciclo: Delivery — implementação, testes e publicação do incremento.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011680" y="5852160"/>
            <a:ext cx="8183880" cy="493776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40280" y="601675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563EB"/>
                </a:solidFill>
              </a:rPr>
              <a:t>Discovery concluído: problema → requisitos → especificação → arquitetura → design → protótipo interativo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SupportFlow - Discovery</dc:title>
  <dc:subject>Projeto Incremental V1 - SupportFlow</dc:subject>
  <dc:creator>Marcus Vinícius de Abreu Júnior</dc:creator>
  <cp:lastModifiedBy>Marcus Vinícius de Abreu Júnior</cp:lastModifiedBy>
  <cp:revision>1</cp:revision>
  <dcterms:created xsi:type="dcterms:W3CDTF">2026-08-18T01:25:04Z</dcterms:created>
  <dcterms:modified xsi:type="dcterms:W3CDTF">2026-08-18T01:25:04Z</dcterms:modified>
</cp:coreProperties>
</file>